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1F2A15-B687-4943-804E-DA1C6D5FD9D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5B7926-DAB9-0849-8AE3-A2CDFFDEE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60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ACCF8-6085-4B2D-72D2-073CCFF4A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B9E52A-F9AD-73BB-3EAF-046F36B9D7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45810A-94AE-2BC5-55EC-F052147143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B2C93-1B30-3B09-970B-9B6E57B84D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0715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eesha-kamath/bis-standards-recommendation-engine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youtu.be/yuJFtrS6XGI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" y="-2814"/>
            <a:ext cx="9144000" cy="658368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91927" y="26728"/>
            <a:ext cx="536014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BIS Standards Recommendation Engine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266176" y="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957732" y="1398328"/>
            <a:ext cx="3228535" cy="741367"/>
          </a:xfrm>
          <a:prstGeom prst="rect">
            <a:avLst/>
          </a:prstGeom>
          <a:solidFill>
            <a:srgbClr val="FEF3C0"/>
          </a:solidFill>
          <a:ln w="25400">
            <a:solidFill>
              <a:srgbClr val="F5C8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57731" y="1398328"/>
            <a:ext cx="3228535" cy="7413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BrainFreeze</a:t>
            </a:r>
            <a:endParaRPr lang="en-US" sz="2400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ABA1403F-1C6C-1973-740A-8C48BCF55757}"/>
              </a:ext>
            </a:extLst>
          </p:cNvPr>
          <p:cNvSpPr/>
          <p:nvPr/>
        </p:nvSpPr>
        <p:spPr>
          <a:xfrm>
            <a:off x="1376875" y="2563836"/>
            <a:ext cx="7323641" cy="18736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200" indent="-4572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1600" dirty="0">
                <a:solidFill>
                  <a:srgbClr val="2D2D2D"/>
                </a:solidFill>
                <a:latin typeface="Trebuchet MS" pitchFamily="34" charset="0"/>
              </a:rPr>
              <a:t>GitHub code link: </a:t>
            </a:r>
            <a:r>
              <a:rPr lang="en-US" sz="1400" dirty="0">
                <a:solidFill>
                  <a:srgbClr val="2D2D2D"/>
                </a:solidFill>
                <a:latin typeface="Trebuchet MS" pitchFamily="34" charset="0"/>
                <a:hlinkClick r:id="rId3"/>
              </a:rPr>
              <a:t>https://github.com/eesha-kamath/bis-standards-recommendation-engine</a:t>
            </a:r>
            <a:r>
              <a:rPr lang="en-US" sz="1400" dirty="0">
                <a:solidFill>
                  <a:srgbClr val="2D2D2D"/>
                </a:solidFill>
                <a:latin typeface="Trebuchet MS" pitchFamily="34" charset="0"/>
              </a:rPr>
              <a:t> </a:t>
            </a:r>
          </a:p>
          <a:p>
            <a:pPr marL="457200" indent="-457200">
              <a:lnSpc>
                <a:spcPct val="15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1600" dirty="0">
                <a:solidFill>
                  <a:srgbClr val="2D2D2D"/>
                </a:solidFill>
                <a:latin typeface="Trebuchet MS" pitchFamily="34" charset="0"/>
              </a:rPr>
              <a:t>Demo video link: </a:t>
            </a:r>
            <a:r>
              <a:rPr lang="en-US" sz="1400" dirty="0">
                <a:solidFill>
                  <a:srgbClr val="2D2D2D"/>
                </a:solidFill>
                <a:latin typeface="Trebuchet MS" pitchFamily="34" charset="0"/>
                <a:hlinkClick r:id="rId4"/>
              </a:rPr>
              <a:t>https://youtu.be/yuJFtrS6XGI</a:t>
            </a:r>
            <a:r>
              <a:rPr lang="en-US" sz="1400" dirty="0">
                <a:solidFill>
                  <a:srgbClr val="2D2D2D"/>
                </a:solidFill>
                <a:latin typeface="Trebuchet MS" pitchFamily="34" charset="0"/>
              </a:rPr>
              <a:t> 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D5ED79-E29E-5207-A2CD-C26DD0C23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7CE6B20-1242-E871-FDE0-52F1B925B0D7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B69BDA8-6025-F85D-25DA-DC428975FEFD}"/>
              </a:ext>
            </a:extLst>
          </p:cNvPr>
          <p:cNvSpPr/>
          <p:nvPr/>
        </p:nvSpPr>
        <p:spPr>
          <a:xfrm>
            <a:off x="36576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BIS Standards Recommendation Engine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030FED1-B891-635A-55D8-396D98B59CD3}"/>
              </a:ext>
            </a:extLst>
          </p:cNvPr>
          <p:cNvSpPr/>
          <p:nvPr/>
        </p:nvSpPr>
        <p:spPr>
          <a:xfrm>
            <a:off x="6400800" y="0"/>
            <a:ext cx="868680" cy="658368"/>
          </a:xfrm>
          <a:prstGeom prst="rect">
            <a:avLst/>
          </a:prstGeom>
          <a:solidFill>
            <a:srgbClr val="E4F6EC"/>
          </a:solidFill>
          <a:ln w="25400">
            <a:solidFill>
              <a:srgbClr val="6DBE8C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FCADE33-A2DD-3F1D-22CC-E7A1520A0621}"/>
              </a:ext>
            </a:extLst>
          </p:cNvPr>
          <p:cNvSpPr/>
          <p:nvPr/>
        </p:nvSpPr>
        <p:spPr>
          <a:xfrm>
            <a:off x="6400800" y="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1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0018DEF-E406-E8DF-D265-BF307A06A6D6}"/>
              </a:ext>
            </a:extLst>
          </p:cNvPr>
          <p:cNvSpPr/>
          <p:nvPr/>
        </p:nvSpPr>
        <p:spPr>
          <a:xfrm>
            <a:off x="6400800" y="38404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Hit Rate @3</a:t>
            </a:r>
            <a:endParaRPr lang="en-US" sz="8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B18429A-DCC2-0628-D075-1DF611EF2E7D}"/>
              </a:ext>
            </a:extLst>
          </p:cNvPr>
          <p:cNvSpPr/>
          <p:nvPr/>
        </p:nvSpPr>
        <p:spPr>
          <a:xfrm>
            <a:off x="7333488" y="0"/>
            <a:ext cx="868680" cy="658368"/>
          </a:xfrm>
          <a:prstGeom prst="rect">
            <a:avLst/>
          </a:prstGeom>
          <a:solidFill>
            <a:srgbClr val="E0F4FB"/>
          </a:solidFill>
          <a:ln w="25400">
            <a:solidFill>
              <a:srgbClr val="7EC8E3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E9CDC03-7B48-CAEE-0AD4-364D9567F4F5}"/>
              </a:ext>
            </a:extLst>
          </p:cNvPr>
          <p:cNvSpPr/>
          <p:nvPr/>
        </p:nvSpPr>
        <p:spPr>
          <a:xfrm>
            <a:off x="7333488" y="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1.0</a:t>
            </a:r>
            <a:endParaRPr lang="en-US" sz="16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DB76AD0-A91B-E425-4410-BC325489A2AF}"/>
              </a:ext>
            </a:extLst>
          </p:cNvPr>
          <p:cNvSpPr/>
          <p:nvPr/>
        </p:nvSpPr>
        <p:spPr>
          <a:xfrm>
            <a:off x="7333488" y="38404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MRR @5</a:t>
            </a:r>
            <a:endParaRPr lang="en-US" sz="8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6FF4FC30-E29B-97F1-2AB1-FC4C6333F592}"/>
              </a:ext>
            </a:extLst>
          </p:cNvPr>
          <p:cNvSpPr/>
          <p:nvPr/>
        </p:nvSpPr>
        <p:spPr>
          <a:xfrm>
            <a:off x="8266176" y="0"/>
            <a:ext cx="868680" cy="658368"/>
          </a:xfrm>
          <a:prstGeom prst="rect">
            <a:avLst/>
          </a:prstGeom>
          <a:solidFill>
            <a:srgbClr val="FEF3C0"/>
          </a:solidFill>
          <a:ln w="25400">
            <a:solidFill>
              <a:srgbClr val="F5C842"/>
            </a:solidFill>
            <a:prstDash val="solid"/>
          </a:ln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85875DE-1F89-6E0C-80FC-829B088C748D}"/>
              </a:ext>
            </a:extLst>
          </p:cNvPr>
          <p:cNvSpPr/>
          <p:nvPr/>
        </p:nvSpPr>
        <p:spPr>
          <a:xfrm>
            <a:off x="8266176" y="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0.03s</a:t>
            </a:r>
            <a:endParaRPr lang="en-US" sz="16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27C4010-8789-0B76-8C31-4AE52E876B57}"/>
              </a:ext>
            </a:extLst>
          </p:cNvPr>
          <p:cNvSpPr/>
          <p:nvPr/>
        </p:nvSpPr>
        <p:spPr>
          <a:xfrm>
            <a:off x="8266176" y="38404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Avg Latency</a:t>
            </a:r>
            <a:endParaRPr lang="en-US" sz="8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6991AAD-789C-6C55-78B3-ACE35BA84F47}"/>
              </a:ext>
            </a:extLst>
          </p:cNvPr>
          <p:cNvSpPr/>
          <p:nvPr/>
        </p:nvSpPr>
        <p:spPr>
          <a:xfrm>
            <a:off x="365760" y="74980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Hybrid BM25 + TF-IDF search over SP 21 building materials standards</a:t>
            </a:r>
            <a:endParaRPr lang="en-US" sz="13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C30CA41-CDDC-4174-075E-48CE0B93FD21}"/>
              </a:ext>
            </a:extLst>
          </p:cNvPr>
          <p:cNvSpPr/>
          <p:nvPr/>
        </p:nvSpPr>
        <p:spPr>
          <a:xfrm>
            <a:off x="365759" y="12070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Target: Hit Rate &gt;80%, MRR &gt;0.70, Latency &lt;5s   All 3 exceeded</a:t>
            </a:r>
            <a:endParaRPr lang="en-US" sz="1000" dirty="0"/>
          </a:p>
        </p:txBody>
      </p:sp>
      <p:pic>
        <p:nvPicPr>
          <p:cNvPr id="17" name="Image 0" descr="preencoded.png">
            <a:extLst>
              <a:ext uri="{FF2B5EF4-FFF2-40B4-BE49-F238E27FC236}">
                <a16:creationId xmlns:a16="http://schemas.microsoft.com/office/drawing/2014/main" id="{EF396E67-7139-7EB7-60EF-67629BC24A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372" y="1591056"/>
            <a:ext cx="7271255" cy="3489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7952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Solution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2011680" cy="3611880"/>
          </a:xfrm>
          <a:prstGeom prst="rect">
            <a:avLst/>
          </a:prstGeom>
          <a:solidFill>
            <a:srgbClr val="E0F4FB"/>
          </a:solidFill>
          <a:ln w="25400">
            <a:solidFill>
              <a:srgbClr val="7EC8E3"/>
            </a:solidFill>
            <a:prstDash val="solid"/>
          </a:ln>
          <a:effectLst>
            <a:outerShdw blurRad="50800" dist="25400" dir="8100000" algn="bl" rotWithShape="0">
              <a:srgbClr val="AAAAAA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5544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Parse SP 21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38328" y="1993392"/>
            <a:ext cx="179222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569 IS standards pulled from 929 pages. Regex header detection. Longest entry kept to skip table of contents stubs.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41448" y="914400"/>
            <a:ext cx="2011680" cy="3611880"/>
          </a:xfrm>
          <a:prstGeom prst="rect">
            <a:avLst/>
          </a:prstGeom>
          <a:solidFill>
            <a:srgbClr val="FEF3C0"/>
          </a:solidFill>
          <a:ln w="25400">
            <a:solidFill>
              <a:srgbClr val="F5C842"/>
            </a:solidFill>
            <a:prstDash val="solid"/>
          </a:ln>
          <a:effectLst>
            <a:outerShdw blurRad="50800" dist="25400" dir="8100000" algn="bl" rotWithShape="0">
              <a:srgbClr val="AAAAAA">
                <a:alpha val="2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532888" y="15544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Hybrid Search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51176" y="1993392"/>
            <a:ext cx="179222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BM25 for exact keyword match plus TF-IDF trigrams for phrase overlap. Fused 50/50. No GPU. No neural model.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54296" y="914400"/>
            <a:ext cx="2011680" cy="3611880"/>
          </a:xfrm>
          <a:prstGeom prst="rect">
            <a:avLst/>
          </a:prstGeom>
          <a:solidFill>
            <a:srgbClr val="E4F6EC"/>
          </a:solidFill>
          <a:ln w="25400">
            <a:solidFill>
              <a:srgbClr val="6DBE8C"/>
            </a:solidFill>
            <a:prstDash val="solid"/>
          </a:ln>
          <a:effectLst>
            <a:outerShdw blurRad="50800" dist="25400" dir="8100000" algn="bl" rotWithShape="0">
              <a:srgbClr val="AAAAAA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45736" y="15544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Query Expansion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64024" y="1993392"/>
            <a:ext cx="179222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 domain shortcuts expanded before search. OPC becomes Ordinary Portland Cement. SRPC becomes Sulphate Resisting. Etc.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67144" y="914400"/>
            <a:ext cx="2011680" cy="3611880"/>
          </a:xfrm>
          <a:prstGeom prst="rect">
            <a:avLst/>
          </a:prstGeom>
          <a:solidFill>
            <a:srgbClr val="FEE9C0"/>
          </a:solidFill>
          <a:ln w="25400">
            <a:solidFill>
              <a:srgbClr val="F5A623"/>
            </a:solidFill>
            <a:prstDash val="solid"/>
          </a:ln>
          <a:effectLst>
            <a:outerShdw blurRad="50800" dist="25400" dir="8100000" algn="bl" rotWithShape="0">
              <a:srgbClr val="AAAAAA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58584" y="15544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Hallucinations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76872" y="1993392"/>
            <a:ext cx="179222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independent guards: LLM only sees 8 candidates, prompt blocks invented codes, code validation drops anything not retrieved.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8412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EC8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- runs once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1170432"/>
            <a:ext cx="1371600" cy="822960"/>
          </a:xfrm>
          <a:prstGeom prst="rect">
            <a:avLst/>
          </a:prstGeom>
          <a:solidFill>
            <a:srgbClr val="E0F4FB"/>
          </a:solidFill>
          <a:ln w="25400">
            <a:solidFill>
              <a:srgbClr val="7EC8E3"/>
            </a:solidFill>
            <a:prstDash val="solid"/>
          </a:ln>
          <a:effectLst>
            <a:outerShdw blurRad="50800" dist="25400" dir="8100000" algn="bl" rotWithShape="0">
              <a:srgbClr val="AAAAAA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120700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 21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PDF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" y="17373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929 pages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00200" y="1572768"/>
            <a:ext cx="384048" cy="0"/>
          </a:xfrm>
          <a:prstGeom prst="line">
            <a:avLst/>
          </a:prstGeom>
          <a:noFill/>
          <a:ln w="25400">
            <a:solidFill>
              <a:srgbClr val="7EC8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11096" y="1444752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EC8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984248" y="1170432"/>
            <a:ext cx="1371600" cy="822960"/>
          </a:xfrm>
          <a:prstGeom prst="rect">
            <a:avLst/>
          </a:prstGeom>
          <a:solidFill>
            <a:srgbClr val="E0F4FB"/>
          </a:solidFill>
          <a:ln w="25400">
            <a:solidFill>
              <a:srgbClr val="7EC8E3"/>
            </a:solidFill>
            <a:prstDash val="solid"/>
          </a:ln>
          <a:effectLst>
            <a:outerShdw blurRad="50800" dist="25400" dir="8100000" algn="bl" rotWithShape="0">
              <a:srgbClr val="AAAAAA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984248" y="120700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Extract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Text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84248" y="17373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pdftotext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55848" y="1572768"/>
            <a:ext cx="384048" cy="0"/>
          </a:xfrm>
          <a:prstGeom prst="line">
            <a:avLst/>
          </a:prstGeom>
          <a:noFill/>
          <a:ln w="25400">
            <a:solidFill>
              <a:srgbClr val="7EC8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66744" y="1444752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EC8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739896" y="1170432"/>
            <a:ext cx="1371600" cy="822960"/>
          </a:xfrm>
          <a:prstGeom prst="rect">
            <a:avLst/>
          </a:prstGeom>
          <a:solidFill>
            <a:srgbClr val="E0F4FB"/>
          </a:solidFill>
          <a:ln w="25400">
            <a:solidFill>
              <a:srgbClr val="7EC8E3"/>
            </a:solidFill>
            <a:prstDash val="solid"/>
          </a:ln>
          <a:effectLst>
            <a:outerShdw blurRad="50800" dist="25400" dir="8100000" algn="bl" rotWithShape="0">
              <a:srgbClr val="AAAAAA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739896" y="120700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Parse +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Dedup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739896" y="17373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569 standards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111496" y="1572768"/>
            <a:ext cx="384048" cy="0"/>
          </a:xfrm>
          <a:prstGeom prst="line">
            <a:avLst/>
          </a:prstGeom>
          <a:noFill/>
          <a:ln w="25400">
            <a:solidFill>
              <a:srgbClr val="7EC8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22392" y="1444752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EC8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95544" y="1170432"/>
            <a:ext cx="1371600" cy="822960"/>
          </a:xfrm>
          <a:prstGeom prst="rect">
            <a:avLst/>
          </a:prstGeom>
          <a:solidFill>
            <a:srgbClr val="FEF3C0"/>
          </a:solidFill>
          <a:ln w="25400">
            <a:solidFill>
              <a:srgbClr val="F5C842"/>
            </a:solidFill>
            <a:prstDash val="solid"/>
          </a:ln>
          <a:effectLst>
            <a:outerShdw blurRad="50800" dist="25400" dir="8100000" algn="bl" rotWithShape="0">
              <a:srgbClr val="AAAAAA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95544" y="120700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Alias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Enrich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95544" y="17373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 IS codes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67144" y="1572768"/>
            <a:ext cx="384048" cy="0"/>
          </a:xfrm>
          <a:prstGeom prst="line">
            <a:avLst/>
          </a:prstGeom>
          <a:noFill/>
          <a:ln w="25400">
            <a:solidFill>
              <a:srgbClr val="7EC8E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78040" y="1444752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EC8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251192" y="1170432"/>
            <a:ext cx="1371600" cy="822960"/>
          </a:xfrm>
          <a:prstGeom prst="rect">
            <a:avLst/>
          </a:prstGeom>
          <a:solidFill>
            <a:srgbClr val="E4F6EC"/>
          </a:solidFill>
          <a:ln w="25400">
            <a:solidFill>
              <a:srgbClr val="6DBE8C"/>
            </a:solidFill>
            <a:prstDash val="solid"/>
          </a:ln>
          <a:effectLst>
            <a:outerShdw blurRad="50800" dist="25400" dir="8100000" algn="bl" rotWithShape="0">
              <a:srgbClr val="AAAAAA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251192" y="120700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Index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251192" y="17373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BM25 + TF-IDF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74320" y="22128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BE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QUERY - every search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2880" y="2542032"/>
            <a:ext cx="1234440" cy="822960"/>
          </a:xfrm>
          <a:prstGeom prst="rect">
            <a:avLst/>
          </a:prstGeom>
          <a:solidFill>
            <a:srgbClr val="FEF3C0"/>
          </a:solidFill>
          <a:ln w="25400">
            <a:solidFill>
              <a:srgbClr val="F5C842"/>
            </a:solidFill>
            <a:prstDash val="solid"/>
          </a:ln>
          <a:effectLst>
            <a:outerShdw blurRad="50800" dist="25400" dir="8100000" algn="bl" rotWithShape="0">
              <a:srgbClr val="AAAAAA">
                <a:alpha val="2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82880" y="257860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82880" y="310896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plain English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417320" y="2944368"/>
            <a:ext cx="192024" cy="0"/>
          </a:xfrm>
          <a:prstGeom prst="line">
            <a:avLst/>
          </a:prstGeom>
          <a:noFill/>
          <a:ln w="25400">
            <a:solidFill>
              <a:srgbClr val="6DBE8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536192" y="2816352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DBE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609344" y="2542032"/>
            <a:ext cx="1234440" cy="822960"/>
          </a:xfrm>
          <a:prstGeom prst="rect">
            <a:avLst/>
          </a:prstGeom>
          <a:solidFill>
            <a:srgbClr val="FEF3C0"/>
          </a:solidFill>
          <a:ln w="25400">
            <a:solidFill>
              <a:srgbClr val="F5C842"/>
            </a:solidFill>
            <a:prstDash val="solid"/>
          </a:ln>
          <a:effectLst>
            <a:outerShdw blurRad="50800" dist="25400" dir="8100000" algn="bl" rotWithShape="0">
              <a:srgbClr val="AAAAAA">
                <a:alpha val="2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1609344" y="257860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Expand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Query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609344" y="310896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 aliases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843784" y="2944368"/>
            <a:ext cx="192024" cy="0"/>
          </a:xfrm>
          <a:prstGeom prst="line">
            <a:avLst/>
          </a:prstGeom>
          <a:noFill/>
          <a:ln w="25400">
            <a:solidFill>
              <a:srgbClr val="6DBE8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962656" y="2816352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DBE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035808" y="2542032"/>
            <a:ext cx="1234440" cy="822960"/>
          </a:xfrm>
          <a:prstGeom prst="rect">
            <a:avLst/>
          </a:prstGeom>
          <a:solidFill>
            <a:srgbClr val="E0F4FB"/>
          </a:solidFill>
          <a:ln w="25400">
            <a:solidFill>
              <a:srgbClr val="7EC8E3"/>
            </a:solidFill>
            <a:prstDash val="solid"/>
          </a:ln>
          <a:effectLst>
            <a:outerShdw blurRad="50800" dist="25400" dir="8100000" algn="bl" rotWithShape="0">
              <a:srgbClr val="AAAAAA">
                <a:alpha val="2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3035808" y="257860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BM25 +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TF-IDF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035808" y="310896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fused score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270248" y="2944368"/>
            <a:ext cx="192024" cy="0"/>
          </a:xfrm>
          <a:prstGeom prst="line">
            <a:avLst/>
          </a:prstGeom>
          <a:noFill/>
          <a:ln w="25400">
            <a:solidFill>
              <a:srgbClr val="6DBE8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89120" y="2816352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DBE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4462272" y="2542032"/>
            <a:ext cx="1234440" cy="822960"/>
          </a:xfrm>
          <a:prstGeom prst="rect">
            <a:avLst/>
          </a:prstGeom>
          <a:solidFill>
            <a:srgbClr val="E0F4FB"/>
          </a:solidFill>
          <a:ln w="25400">
            <a:solidFill>
              <a:srgbClr val="7EC8E3"/>
            </a:solidFill>
            <a:prstDash val="solid"/>
          </a:ln>
          <a:effectLst>
            <a:outerShdw blurRad="50800" dist="25400" dir="8100000" algn="bl" rotWithShape="0">
              <a:srgbClr val="AAAAAA">
                <a:alpha val="2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462272" y="257860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8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Candidates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462272" y="310896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retrieved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696712" y="2944368"/>
            <a:ext cx="192024" cy="0"/>
          </a:xfrm>
          <a:prstGeom prst="line">
            <a:avLst/>
          </a:prstGeom>
          <a:noFill/>
          <a:ln w="25400">
            <a:solidFill>
              <a:srgbClr val="6DBE8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815584" y="2816352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DBE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5888736" y="2542032"/>
            <a:ext cx="1234440" cy="822960"/>
          </a:xfrm>
          <a:prstGeom prst="rect">
            <a:avLst/>
          </a:prstGeom>
          <a:solidFill>
            <a:srgbClr val="FEE9C0"/>
          </a:solidFill>
          <a:ln w="25400">
            <a:solidFill>
              <a:srgbClr val="F5A623"/>
            </a:solidFill>
            <a:prstDash val="solid"/>
          </a:ln>
          <a:effectLst>
            <a:outerShdw blurRad="50800" dist="25400" dir="8100000" algn="bl" rotWithShape="0">
              <a:srgbClr val="AAAAAA">
                <a:alpha val="2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5888736" y="257860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Llama 3.3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Rationale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888736" y="310896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via Groq API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123176" y="2944368"/>
            <a:ext cx="192024" cy="0"/>
          </a:xfrm>
          <a:prstGeom prst="line">
            <a:avLst/>
          </a:prstGeom>
          <a:noFill/>
          <a:ln w="25400">
            <a:solidFill>
              <a:srgbClr val="6DBE8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242048" y="2816352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DBE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7315200" y="2542032"/>
            <a:ext cx="1234440" cy="822960"/>
          </a:xfrm>
          <a:prstGeom prst="rect">
            <a:avLst/>
          </a:prstGeom>
          <a:solidFill>
            <a:srgbClr val="E4F6EC"/>
          </a:solidFill>
          <a:ln w="25400">
            <a:solidFill>
              <a:srgbClr val="6DBE8C"/>
            </a:solidFill>
            <a:prstDash val="solid"/>
          </a:ln>
          <a:effectLst>
            <a:outerShdw blurRad="50800" dist="25400" dir="8100000" algn="bl" rotWithShape="0">
              <a:srgbClr val="AAAAAA">
                <a:alpha val="20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7315200" y="257860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315200" y="310896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hallucination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182880" y="3547872"/>
            <a:ext cx="8778240" cy="530352"/>
          </a:xfrm>
          <a:prstGeom prst="rect">
            <a:avLst/>
          </a:prstGeom>
          <a:solidFill>
            <a:srgbClr val="E4F6EC"/>
          </a:solidFill>
          <a:ln w="25400">
            <a:solidFill>
              <a:srgbClr val="6DBE8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82880" y="3547872"/>
            <a:ext cx="8778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   Top 3 to 5 IS Standards   Rationale   Confidence Score   Compliance Checklist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182880" y="4224528"/>
            <a:ext cx="4206240" cy="566928"/>
          </a:xfrm>
          <a:prstGeom prst="rect">
            <a:avLst/>
          </a:prstGeom>
          <a:solidFill>
            <a:srgbClr val="E4F6EC"/>
          </a:solidFill>
          <a:ln w="12700">
            <a:solidFill>
              <a:srgbClr val="6DBE8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74320" y="4224528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LLM mode: fully offline, 0.03s response, no API key needed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663440" y="4224528"/>
            <a:ext cx="4297680" cy="566928"/>
          </a:xfrm>
          <a:prstGeom prst="rect">
            <a:avLst/>
          </a:prstGeom>
          <a:solidFill>
            <a:srgbClr val="FEE9C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54880" y="4224528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 Groq API: Llama 3.3 generates plain English rationales, under 3 seconds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Chunking and Retrieval Strategy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EC8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we parsed SP 21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1170432"/>
            <a:ext cx="347472" cy="347472"/>
          </a:xfrm>
          <a:prstGeom prst="rect">
            <a:avLst/>
          </a:prstGeom>
          <a:solidFill>
            <a:srgbClr val="FEF3C0"/>
          </a:solidFill>
          <a:ln w="25400">
            <a:solidFill>
              <a:srgbClr val="F5C8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1170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94944" y="11795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 Header Detection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94944" y="14630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Regex finds every IS XXXX : YYYY block. 569 standards extracted.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" y="2084832"/>
            <a:ext cx="347472" cy="347472"/>
          </a:xfrm>
          <a:prstGeom prst="rect">
            <a:avLst/>
          </a:prstGeom>
          <a:solidFill>
            <a:srgbClr val="FEF3C0"/>
          </a:solidFill>
          <a:ln w="25400">
            <a:solidFill>
              <a:srgbClr val="F5C8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20848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4944" y="20939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Drop Table of Contents Stubs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94944" y="23774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PDF has short TOC entries for every standard. We keep only the longest version, which is always the full summary.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6032" y="2999232"/>
            <a:ext cx="347472" cy="347472"/>
          </a:xfrm>
          <a:prstGeom prst="rect">
            <a:avLst/>
          </a:prstGeom>
          <a:solidFill>
            <a:srgbClr val="FEF3C0"/>
          </a:solidFill>
          <a:ln w="25400">
            <a:solidFill>
              <a:srgbClr val="F5C8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" y="2999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94944" y="30083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Alias Injection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94944" y="32918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 key standards get trade names added directly. IS 269 gets OPC 33. IS 455 gets PSC. Closes the vocabulary gap.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6032" y="3913632"/>
            <a:ext cx="347472" cy="347472"/>
          </a:xfrm>
          <a:prstGeom prst="rect">
            <a:avLst/>
          </a:prstGeom>
          <a:solidFill>
            <a:srgbClr val="FEF3C0"/>
          </a:solidFill>
          <a:ln w="25400">
            <a:solidFill>
              <a:srgbClr val="F5C8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3913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4944" y="39227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1400 Character Cap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4944" y="42062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Each document trimmed to 1400 chars plus aliases to keep the index fast.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804672"/>
            <a:ext cx="4297680" cy="4041648"/>
          </a:xfrm>
          <a:prstGeom prst="rect">
            <a:avLst/>
          </a:prstGeom>
          <a:solidFill>
            <a:srgbClr val="E0F4FB"/>
          </a:solidFill>
          <a:ln w="12700">
            <a:solidFill>
              <a:srgbClr val="7EC8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89611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Retrieval Fusion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1280160"/>
            <a:ext cx="173736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7EC8E3"/>
            </a:solidFill>
            <a:prstDash val="solid"/>
          </a:ln>
          <a:effectLst>
            <a:outerShdw blurRad="50800" dist="25400" dir="8100000" algn="bl" rotWithShape="0">
              <a:srgbClr val="AAAAAA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754880" y="128016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BM25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54880" y="166420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exact keyword match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858000" y="1280160"/>
            <a:ext cx="173736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7EC8E3"/>
            </a:solidFill>
            <a:prstDash val="solid"/>
          </a:ln>
          <a:effectLst>
            <a:outerShdw blurRad="50800" dist="25400" dir="8100000" algn="bl" rotWithShape="0">
              <a:srgbClr val="AAAAAA">
                <a:alpha val="2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858000" y="128016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TF-IDF Trigrams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58000" y="166420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phrase cosine match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212080" y="21762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EC8E3"/>
                </a:solidFill>
              </a:rPr>
              <a:t>▼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269480" y="21762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EC8E3"/>
                </a:solidFill>
              </a:rPr>
              <a:t>▼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754880" y="2514600"/>
            <a:ext cx="384048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F5C842"/>
            </a:solidFill>
            <a:prstDash val="solid"/>
          </a:ln>
          <a:effectLst>
            <a:outerShdw blurRad="50800" dist="25400" dir="8100000" algn="bl" rotWithShape="0">
              <a:srgbClr val="AAAAAA">
                <a:alpha val="2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754880" y="25146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 x BM25 + 0.5 x TF-IDF  =  Final Score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54880" y="3090672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8 candidates selected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Pure numpy operations, no GPU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Sparse beats dense for IS terminology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Evaluation Results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2560320" cy="1501023"/>
          </a:xfrm>
          <a:prstGeom prst="rect">
            <a:avLst/>
          </a:prstGeom>
          <a:solidFill>
            <a:srgbClr val="E4F6EC"/>
          </a:solidFill>
          <a:ln w="25400">
            <a:solidFill>
              <a:srgbClr val="6DBE8C"/>
            </a:solidFill>
            <a:prstDash val="solid"/>
          </a:ln>
          <a:effectLst>
            <a:outerShdw blurRad="50800" dist="25400" dir="8100000" algn="bl" rotWithShape="0">
              <a:srgbClr val="AAAAAA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877824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20040" y="17190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Hit Rate @3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20116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 was over 80%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46120" y="841248"/>
            <a:ext cx="2560320" cy="1501023"/>
          </a:xfrm>
          <a:prstGeom prst="rect">
            <a:avLst/>
          </a:prstGeom>
          <a:solidFill>
            <a:srgbClr val="E0F4FB"/>
          </a:solidFill>
          <a:ln w="25400">
            <a:solidFill>
              <a:srgbClr val="7EC8E3"/>
            </a:solidFill>
            <a:prstDash val="solid"/>
          </a:ln>
          <a:effectLst>
            <a:outerShdw blurRad="50800" dist="25400" dir="8100000" algn="bl" rotWithShape="0">
              <a:srgbClr val="AAAAAA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46120" y="877824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1.0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246120" y="17190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MRR @5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46120" y="20116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 was over 0.70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72200" y="841248"/>
            <a:ext cx="2560320" cy="1501023"/>
          </a:xfrm>
          <a:prstGeom prst="rect">
            <a:avLst/>
          </a:prstGeom>
          <a:solidFill>
            <a:srgbClr val="FEF3C0"/>
          </a:solidFill>
          <a:ln w="25400">
            <a:solidFill>
              <a:srgbClr val="F5C842"/>
            </a:solidFill>
            <a:prstDash val="solid"/>
          </a:ln>
          <a:effectLst>
            <a:outerShdw blurRad="50800" dist="25400" dir="8100000" algn="bl" rotWithShape="0">
              <a:srgbClr val="AAAAAA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72200" y="877824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0.03s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172200" y="17190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Avg Latency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72200" y="20116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 was under 5s</a:t>
            </a:r>
            <a:endParaRPr lang="en-US" sz="90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rcRect t="56188" r="25039" b="-2116"/>
          <a:stretch/>
        </p:blipFill>
        <p:spPr>
          <a:xfrm>
            <a:off x="502920" y="2452000"/>
            <a:ext cx="8036169" cy="26391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Highlights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28600" y="80467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EC8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Retrieval only  (0.04s, offline)</a:t>
            </a:r>
            <a:endParaRPr lang="en-US" sz="1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60704"/>
            <a:ext cx="4206240" cy="2103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09160" y="80467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 Groq rationales  (2.74s)</a:t>
            </a:r>
            <a:endParaRPr lang="en-US" sz="1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1060704"/>
            <a:ext cx="4206240" cy="21031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28600" y="329184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BE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Compliance checklist tab</a:t>
            </a:r>
            <a:endParaRPr lang="en-US" sz="10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3547872"/>
            <a:ext cx="4206240" cy="1371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709160" y="329184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5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JSON output tab</a:t>
            </a:r>
            <a:endParaRPr lang="en-US" sz="10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160" y="3547872"/>
            <a:ext cx="420624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We Score on Every Criterion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8686800" cy="310896"/>
          </a:xfrm>
          <a:prstGeom prst="rect">
            <a:avLst/>
          </a:prstGeom>
          <a:solidFill>
            <a:srgbClr val="E0F4FB"/>
          </a:solidFill>
          <a:ln w="12700">
            <a:solidFill>
              <a:srgbClr val="7EC8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749808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PRIMARY METRICS:  Automated against hidden test set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2743200" cy="658368"/>
          </a:xfrm>
          <a:prstGeom prst="rect">
            <a:avLst/>
          </a:prstGeom>
          <a:solidFill>
            <a:srgbClr val="E4F6EC"/>
          </a:solidFill>
          <a:ln w="25400">
            <a:solidFill>
              <a:srgbClr val="6DBE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1556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Hit Rate @3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45920" y="11887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 &gt;80%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645920" y="14447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got 100%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36392" y="1115568"/>
            <a:ext cx="2743200" cy="658368"/>
          </a:xfrm>
          <a:prstGeom prst="rect">
            <a:avLst/>
          </a:prstGeom>
          <a:solidFill>
            <a:srgbClr val="E4F6EC"/>
          </a:solidFill>
          <a:ln w="25400">
            <a:solidFill>
              <a:srgbClr val="6DBE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27832" y="111556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MRR @5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53712" y="11887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 &gt;0.70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53712" y="14447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got 1.00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44184" y="1115568"/>
            <a:ext cx="2743200" cy="658368"/>
          </a:xfrm>
          <a:prstGeom prst="rect">
            <a:avLst/>
          </a:prstGeom>
          <a:solidFill>
            <a:srgbClr val="E4F6EC"/>
          </a:solidFill>
          <a:ln w="25400">
            <a:solidFill>
              <a:srgbClr val="6DBE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35624" y="111556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Avg Latency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61504" y="11887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 &lt;5 sec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461504" y="14447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got 0.03s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883664"/>
            <a:ext cx="8686800" cy="310896"/>
          </a:xfrm>
          <a:prstGeom prst="rect">
            <a:avLst/>
          </a:prstGeom>
          <a:solidFill>
            <a:srgbClr val="FEE9C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1883664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SECONDARY METRICS: Manual review by judges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28600" y="2267712"/>
            <a:ext cx="4206240" cy="1188720"/>
          </a:xfrm>
          <a:prstGeom prst="rect">
            <a:avLst/>
          </a:prstGeom>
          <a:solidFill>
            <a:srgbClr val="E0F4FB"/>
          </a:solidFill>
          <a:ln w="25400">
            <a:solidFill>
              <a:srgbClr val="7EC8E3"/>
            </a:solidFill>
            <a:prstDash val="solid"/>
          </a:ln>
          <a:effectLst>
            <a:outerShdw blurRad="50800" dist="25400" dir="8100000" algn="bl" rotWithShape="0">
              <a:srgbClr val="AAAAAA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47472" y="2304288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Relevance Score  (10 pts)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7472" y="2606040"/>
            <a:ext cx="3968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Judge picks 5 random queries and rates our top 3 results on a 1 to 5 scale.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7472" y="2944368"/>
            <a:ext cx="3968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rationales are specific, sourced from SP 21, and explain exactly why each IS code applies to that product.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2267712"/>
            <a:ext cx="4206240" cy="1188720"/>
          </a:xfrm>
          <a:prstGeom prst="rect">
            <a:avLst/>
          </a:prstGeom>
          <a:solidFill>
            <a:srgbClr val="E4F6EC"/>
          </a:solidFill>
          <a:ln w="25400">
            <a:solidFill>
              <a:srgbClr val="6DBE8C"/>
            </a:solidFill>
            <a:prstDash val="solid"/>
          </a:ln>
          <a:effectLst>
            <a:outerShdw blurRad="50800" dist="25400" dir="8100000" algn="bl" rotWithShape="0">
              <a:srgbClr val="AAAAAA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28032" y="2304288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Hallucinations  (10 pts)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28032" y="2606040"/>
            <a:ext cx="3968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Binary check per response. Any invented IS code = 0. Score = clean responses divided by total.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28032" y="2944368"/>
            <a:ext cx="3968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have 3 independent layers. The LLM physically cannot see or return any standard outside the 8 retrieved. Guaranteed clean.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28600" y="3566160"/>
            <a:ext cx="8686800" cy="310896"/>
          </a:xfrm>
          <a:prstGeom prst="rect">
            <a:avLst/>
          </a:prstGeom>
          <a:solidFill>
            <a:srgbClr val="FEF3C0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" y="3566160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SUBJECTIVE:  Code quality, Innovation, UI, Presentation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28600" y="3950208"/>
            <a:ext cx="2011680" cy="1078992"/>
          </a:xfrm>
          <a:prstGeom prst="rect">
            <a:avLst/>
          </a:prstGeom>
          <a:solidFill>
            <a:srgbClr val="E0F4FB"/>
          </a:solidFill>
          <a:ln w="25400">
            <a:solidFill>
              <a:srgbClr val="7EC8E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1752" y="3986784"/>
            <a:ext cx="1865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Excellence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01752" y="4425696"/>
            <a:ext cx="18653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Clean 4-file codebase. One command runs everything. requirements.txt included.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404872" y="3950208"/>
            <a:ext cx="2011680" cy="1078992"/>
          </a:xfrm>
          <a:prstGeom prst="rect">
            <a:avLst/>
          </a:prstGeom>
          <a:solidFill>
            <a:srgbClr val="FEF3C0"/>
          </a:solidFill>
          <a:ln w="25400">
            <a:solidFill>
              <a:srgbClr val="F5C84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78024" y="3986784"/>
            <a:ext cx="1865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Innovation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478024" y="4425696"/>
            <a:ext cx="18653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Hybrid sparse retrieval. Alias injection. TOC dedup fix. Offline mode. Deliberate architectural choices.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81144" y="3950208"/>
            <a:ext cx="2011680" cy="1078992"/>
          </a:xfrm>
          <a:prstGeom prst="rect">
            <a:avLst/>
          </a:prstGeom>
          <a:solidFill>
            <a:srgbClr val="FEE9C0"/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54296" y="3986784"/>
            <a:ext cx="1865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Usability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and Impact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654296" y="4425696"/>
            <a:ext cx="18653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Gradio UI, 3 tabs, confidence scores, compliance checklist. Works offline on any laptop.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757416" y="3950208"/>
            <a:ext cx="2011680" cy="1078992"/>
          </a:xfrm>
          <a:prstGeom prst="rect">
            <a:avLst/>
          </a:prstGeom>
          <a:solidFill>
            <a:srgbClr val="E4F6EC"/>
          </a:solidFill>
          <a:ln w="25400">
            <a:solidFill>
              <a:srgbClr val="6DBE8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30568" y="3986784"/>
            <a:ext cx="1865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Presentation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830568" y="4425696"/>
            <a:ext cx="18653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This deck. Live demo on Google Meet.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 on MSEs and Team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EC8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world impact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4937760" cy="310896"/>
          </a:xfrm>
          <a:prstGeom prst="rect">
            <a:avLst/>
          </a:prstGeom>
          <a:solidFill>
            <a:srgbClr val="E0F4FB"/>
          </a:solidFill>
          <a:ln w="12700">
            <a:solidFill>
              <a:srgbClr val="7EC8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5156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C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</a:t>
            </a:r>
            <a:r>
              <a:rPr lang="en-US" sz="1100" dirty="0">
                <a:solidFill>
                  <a:srgbClr val="55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  to    </a:t>
            </a:r>
            <a:r>
              <a:rPr lang="en-US" sz="11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AFTER with BrainFreeze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1408176"/>
            <a:ext cx="49377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499616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  Weeks searching BIS documents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51760" y="1499616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  Seconds with a product description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2121408"/>
            <a:ext cx="49377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212848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  Risk of picking the wrong standard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51760" y="221284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  3 layer hallucination prevention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" y="2834640"/>
            <a:ext cx="49377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9260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  Need to understand BIS terminology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51760" y="29260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  Plain English rationales and checklists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3547872"/>
            <a:ext cx="49377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639312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  Need internet and paid APIs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51760" y="363931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  Offline mode on any factory laptop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577840" y="7498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EC8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BrainFreeze   Tech Stack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577840" y="1051560"/>
            <a:ext cx="3291840" cy="2944368"/>
          </a:xfrm>
          <a:prstGeom prst="rect">
            <a:avLst/>
          </a:prstGeom>
          <a:solidFill>
            <a:srgbClr val="E0F4FB"/>
          </a:solidFill>
          <a:ln w="12700">
            <a:solidFill>
              <a:srgbClr val="7EC8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15000" y="1133856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►  SP 21 BIS PDF  (sole source)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715000" y="1517904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►  pdftotext  (text extraction)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715000" y="1901952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►  rank-bm25  (keyword retrieval)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715000" y="2286000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►  scikit-learn  (TF-IDF trigrams)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715000" y="267004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►  Groq API  Llama 3.3 70B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715000" y="3054096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►  Gradio  (web UI)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715000" y="3438144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►  Python 3.10+  no GPU needed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28600" y="4645152"/>
            <a:ext cx="8686800" cy="384048"/>
          </a:xfrm>
          <a:prstGeom prst="rect">
            <a:avLst/>
          </a:prstGeom>
          <a:solidFill>
            <a:srgbClr val="F5C842"/>
          </a:solidFill>
          <a:ln w="25400">
            <a:solidFill>
              <a:srgbClr val="F5C8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" y="464515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command. 0.03 seconds. The right BIS standard. Every time.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826</Words>
  <Application>Microsoft Office PowerPoint</Application>
  <PresentationFormat>On-screen Show (16:9)</PresentationFormat>
  <Paragraphs>168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Courier New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BIS Standards Recommendation Engine - BrainFreeze</dc:title>
  <dc:subject>PptxGenJS Presentation</dc:subject>
  <dc:creator>PptxGenJS</dc:creator>
  <cp:lastModifiedBy>EESHA KAMATH</cp:lastModifiedBy>
  <cp:revision>6</cp:revision>
  <dcterms:created xsi:type="dcterms:W3CDTF">2026-05-03T13:30:33Z</dcterms:created>
  <dcterms:modified xsi:type="dcterms:W3CDTF">2026-05-03T18:20:22Z</dcterms:modified>
</cp:coreProperties>
</file>